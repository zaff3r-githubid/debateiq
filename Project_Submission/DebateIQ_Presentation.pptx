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210" d="100"/>
          <a:sy n="210" d="100"/>
        </p:scale>
        <p:origin x="384" y="1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ohammad Zafar Adil" userId="7c8328480ec74855" providerId="LiveId" clId="{5C2C1E32-6879-4741-AFC3-306EC394E695}"/>
    <pc:docChg chg="modSld">
      <pc:chgData name="Mohammad Zafar Adil" userId="7c8328480ec74855" providerId="LiveId" clId="{5C2C1E32-6879-4741-AFC3-306EC394E695}" dt="2026-05-11T02:26:45.599" v="67" actId="20577"/>
      <pc:docMkLst>
        <pc:docMk/>
      </pc:docMkLst>
      <pc:sldChg chg="modSp mod">
        <pc:chgData name="Mohammad Zafar Adil" userId="7c8328480ec74855" providerId="LiveId" clId="{5C2C1E32-6879-4741-AFC3-306EC394E695}" dt="2026-05-11T00:34:21.797" v="33" actId="20577"/>
        <pc:sldMkLst>
          <pc:docMk/>
          <pc:sldMk cId="0" sldId="256"/>
        </pc:sldMkLst>
        <pc:spChg chg="mod">
          <ac:chgData name="Mohammad Zafar Adil" userId="7c8328480ec74855" providerId="LiveId" clId="{5C2C1E32-6879-4741-AFC3-306EC394E695}" dt="2026-05-11T00:34:21.797" v="33" actId="20577"/>
          <ac:spMkLst>
            <pc:docMk/>
            <pc:sldMk cId="0" sldId="256"/>
            <ac:spMk id="5" creationId="{00000000-0000-0000-0000-000000000000}"/>
          </ac:spMkLst>
        </pc:spChg>
      </pc:sldChg>
      <pc:sldChg chg="modSp mod">
        <pc:chgData name="Mohammad Zafar Adil" userId="7c8328480ec74855" providerId="LiveId" clId="{5C2C1E32-6879-4741-AFC3-306EC394E695}" dt="2026-05-11T02:26:45.599" v="67" actId="20577"/>
        <pc:sldMkLst>
          <pc:docMk/>
          <pc:sldMk cId="0" sldId="259"/>
        </pc:sldMkLst>
        <pc:spChg chg="mod">
          <ac:chgData name="Mohammad Zafar Adil" userId="7c8328480ec74855" providerId="LiveId" clId="{5C2C1E32-6879-4741-AFC3-306EC394E695}" dt="2026-05-11T02:26:45.599" v="67" actId="20577"/>
          <ac:spMkLst>
            <pc:docMk/>
            <pc:sldMk cId="0" sldId="259"/>
            <ac:spMk id="11" creationId="{00000000-0000-0000-0000-000000000000}"/>
          </ac:spMkLst>
        </pc:spChg>
        <pc:spChg chg="mod">
          <ac:chgData name="Mohammad Zafar Adil" userId="7c8328480ec74855" providerId="LiveId" clId="{5C2C1E32-6879-4741-AFC3-306EC394E695}" dt="2026-05-10T22:59:39.025" v="0" actId="14100"/>
          <ac:spMkLst>
            <pc:docMk/>
            <pc:sldMk cId="0" sldId="259"/>
            <ac:spMk id="18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385825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0B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🧠  DebateIQ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457200" y="21945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Debate Strategist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29260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Topic · 5-Layer Reasoning · Powered by Claude claude-sonnet-4-6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[Zafar Adil]  ·  AI Practitioner Course  ·  [05/10/2026]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20B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Debate anything. Think deeply.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371600" y="118872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DebateIQ works on any topic: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71600" y="182880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🍕  Neapolitan vs New York Style Pizza (demo)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371600" y="219456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🤖  AI: Harmful or Beneficial?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71600" y="256032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🏠  Remote Work vs Office Work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71600" y="292608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📱  Social Media: Net Positive or Negative?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371600" y="329184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⚽  Greatest Footballer of All Time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71600" y="365760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🎓  Is a University Degree Still Worth It?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4297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i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app. Any debate. Five layers of AI reasoning.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20B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Assignment Challenge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3657600" cy="1936616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 with AI Reasoning: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96119" y="1828800"/>
            <a:ext cx="3507475" cy="10372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 One prompt = one shallow answer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 No self-correction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 Arguments not tested under pressure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754880" y="1188719"/>
            <a:ext cx="3657600" cy="1936617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937760" y="13716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 — Multi-Layer Reasoning: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840407" y="1828800"/>
            <a:ext cx="3507474" cy="11236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5 layers · each builds on the last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Arguments are challenged, critiqued, refined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Final answer is genuinely more intelligent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384048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assignment challenged us to build AI that thinks in layers — not just one shot."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20B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5-Layer System (SCIPAB Framework)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THINK  →  AI THINKS  →  YOU MEASURE  →  YOU IMPROVE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371600" y="1645920"/>
            <a:ext cx="6400800" cy="457200"/>
          </a:xfrm>
          <a:prstGeom prst="rect">
            <a:avLst/>
          </a:prstGeom>
          <a:solidFill>
            <a:srgbClr val="1E293B"/>
          </a:solidFill>
          <a:ln w="254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554480" y="1691640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1  →  Context Analysis     "What's the debate?"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0" y="2103120"/>
            <a:ext cx="0" cy="137160"/>
          </a:xfrm>
          <a:prstGeom prst="line">
            <a:avLst/>
          </a:prstGeom>
          <a:noFill/>
          <a:ln w="38100">
            <a:solidFill>
              <a:srgbClr val="0EA5E9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371600" y="2240280"/>
            <a:ext cx="6400800" cy="457200"/>
          </a:xfrm>
          <a:prstGeom prst="rect">
            <a:avLst/>
          </a:prstGeom>
          <a:solidFill>
            <a:srgbClr val="1E293B"/>
          </a:solidFill>
          <a:ln w="254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554480" y="2286000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2  →  Argument Builder     "What's my case?"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0" y="2697480"/>
            <a:ext cx="0" cy="137160"/>
          </a:xfrm>
          <a:prstGeom prst="line">
            <a:avLst/>
          </a:prstGeom>
          <a:noFill/>
          <a:ln w="38100">
            <a:solidFill>
              <a:srgbClr val="0EA5E9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371600" y="2834640"/>
            <a:ext cx="6400800" cy="457200"/>
          </a:xfrm>
          <a:prstGeom prst="rect">
            <a:avLst/>
          </a:prstGeom>
          <a:solidFill>
            <a:srgbClr val="1E293B"/>
          </a:solidFill>
          <a:ln w="254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554480" y="2880360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3  →  Counter Argument     "What </a:t>
            </a:r>
            <a:r>
              <a:rPr lang="en-US" sz="14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Challenges that case"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0" y="3291840"/>
            <a:ext cx="0" cy="137160"/>
          </a:xfrm>
          <a:prstGeom prst="line">
            <a:avLst/>
          </a:prstGeom>
          <a:noFill/>
          <a:ln w="38100">
            <a:solidFill>
              <a:srgbClr val="0EA5E9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371600" y="3429000"/>
            <a:ext cx="6400800" cy="457200"/>
          </a:xfrm>
          <a:prstGeom prst="rect">
            <a:avLst/>
          </a:prstGeom>
          <a:solidFill>
            <a:srgbClr val="1E293B"/>
          </a:solidFill>
          <a:ln w="254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554480" y="3474720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4  →  Self-Critique     "Where am I weak?"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0" y="3886200"/>
            <a:ext cx="0" cy="137160"/>
          </a:xfrm>
          <a:prstGeom prst="line">
            <a:avLst/>
          </a:prstGeom>
          <a:noFill/>
          <a:ln w="38100">
            <a:solidFill>
              <a:srgbClr val="0EA5E9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371600" y="4023360"/>
            <a:ext cx="6400800" cy="457200"/>
          </a:xfrm>
          <a:prstGeom prst="rect">
            <a:avLst/>
          </a:prstGeom>
          <a:solidFill>
            <a:srgbClr val="1E293B"/>
          </a:solidFill>
          <a:ln w="254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554480" y="4069080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5  →  Final Strategy     "What's the verdict?"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7200" y="44805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layer receives ALL previous layers as context.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repetition — genuine new reasoning every step.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20B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315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0EA5E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🔴  LIVE DEMO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DebateIQ think through: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828800" y="2286000"/>
            <a:ext cx="5486400" cy="164592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103120" y="242316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Topic:  </a:t>
            </a: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Neapolitan vs New York Style Pizza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103120" y="2715768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Position:  </a:t>
            </a: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Neapolitan Pizza is the superior style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103120" y="3008376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Persona:  </a:t>
            </a: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Expert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103120" y="3300984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Tone:  </a:t>
            </a: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Passionate and Authoritative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103120" y="3593592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 </a:t>
            </a: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Academic Research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[Switch to browser and run the app here]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20B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Prompt Design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prompts are designed: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914400" y="1554480"/>
            <a:ext cx="7315200" cy="54864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97280" y="1691640"/>
            <a:ext cx="6949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prompt receives all previous layers as context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297680" y="21488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097280" y="2423160"/>
            <a:ext cx="6949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Forces genuine new reasoning — not repetition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2834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design choices: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97280" y="3419856"/>
            <a:ext cx="69494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"Do NOT take a position"      ← Layer 1 stays neutral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97280" y="3630168"/>
            <a:ext cx="69494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"No strawmen"                 ← Layer 3 must be genuinely tough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97280" y="3840480"/>
            <a:ext cx="6949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"Be intellectually honest"    ← Layer 4 can't just defend Layer 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97280" y="4046220"/>
            <a:ext cx="6949440" cy="321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"End with Final Verdict:"     ← Layer 5 must be decisive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29200" y="28346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Variables injected into every prompt: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818496" y="3040381"/>
            <a:ext cx="246114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{persona}  ·  {tone}  ·  {source}  · {</a:t>
            </a:r>
            <a:r>
              <a:rPr lang="en-US" sz="1200" dirty="0" err="1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word_count</a:t>
            </a: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20B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📊  Telemetry from a Live Run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1152144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Fill in your actual numbers after running a debate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371600" y="1463040"/>
            <a:ext cx="6400800" cy="128016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645920" y="1600200"/>
            <a:ext cx="5852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Tokens     </a:t>
            </a: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  tokens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645920" y="1847088"/>
            <a:ext cx="5852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Tokens     </a:t>
            </a: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  tokens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645920" y="2093976"/>
            <a:ext cx="5852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Tokens     </a:t>
            </a: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  tokens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645920" y="2340864"/>
            <a:ext cx="5852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Avg Latency     </a:t>
            </a: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  ms per call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645920" y="2587752"/>
            <a:ext cx="5852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Estimated Cost     </a:t>
            </a: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$____  USD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371600" y="3017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distribution by layer: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554480" y="3383280"/>
            <a:ext cx="6035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Layer 1 (Context)         ____  tokens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554480" y="3602736"/>
            <a:ext cx="6035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Layer 2 (Arguments)       ____  tokens  ← grows with context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554480" y="3822192"/>
            <a:ext cx="6035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Layer 3 (Counter)         ____  tokens  ← grows more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554480" y="4041648"/>
            <a:ext cx="6035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Layer 4 (Self-Critique)   ____  tokens  ← grows more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554480" y="4261104"/>
            <a:ext cx="6035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Layer 5 (Final Strategy)  ____  tokens  ← largest: full chain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Why? Each layer receives ALL prior layers as input context.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context = richer reasoning = more tokens.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20B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Key Takeaways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learned: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097280" y="1444752"/>
            <a:ext cx="274320" cy="274320"/>
          </a:xfrm>
          <a:prstGeom prst="ellipse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97280" y="14630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0B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463040" y="1463040"/>
            <a:ext cx="6583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Multi-layer prompting produces fundamentally better reasoning than a single well-crafted prompt.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097280" y="1920240"/>
            <a:ext cx="274320" cy="274320"/>
          </a:xfrm>
          <a:prstGeom prst="ellipse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97280" y="193852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0B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63040" y="1938528"/>
            <a:ext cx="6583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Chaining context is the key design pattern — each layer is smarter because it knows what came before.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097280" y="2395728"/>
            <a:ext cx="274320" cy="274320"/>
          </a:xfrm>
          <a:prstGeom prst="ellipse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097280" y="241401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0B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463040" y="2414016"/>
            <a:ext cx="6583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Telemetry makes AI reasoning transparent and measurable — you can see the cost of thinking.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1097280" y="2871216"/>
            <a:ext cx="274320" cy="274320"/>
          </a:xfrm>
          <a:prstGeom prst="ellipse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097280" y="288950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0B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463040" y="2889504"/>
            <a:ext cx="6583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Self-critique (Layer 4) is the most valuable layer — it's where bias gets exposed.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097280" y="3346704"/>
            <a:ext cx="274320" cy="274320"/>
          </a:xfrm>
          <a:prstGeom prst="ellipse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097280" y="33649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0B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463040" y="3364992"/>
            <a:ext cx="6583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SCIPAB gives prompt chains a communication backbone — Situation → Challenge → Impact → Position → Action → Benefit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1097280" y="4206240"/>
            <a:ext cx="6949440" cy="54864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280160" y="4343400"/>
            <a:ext cx="6583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🧠  Final Verdict: [paste your app's actual verdict here]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214</TotalTime>
  <Words>633</Words>
  <Application>Microsoft Office PowerPoint</Application>
  <PresentationFormat>On-screen Show (16:9)</PresentationFormat>
  <Paragraphs>88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Arial Black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DebateIQ - AI Debate Strategist</dc:title>
  <dc:subject>PptxGenJS Presentation</dc:subject>
  <dc:creator>[Your Name]</dc:creator>
  <cp:lastModifiedBy>Mohammad Zafar Adil</cp:lastModifiedBy>
  <cp:revision>2</cp:revision>
  <dcterms:created xsi:type="dcterms:W3CDTF">2026-05-10T18:18:25Z</dcterms:created>
  <dcterms:modified xsi:type="dcterms:W3CDTF">2026-05-11T02:26:46Z</dcterms:modified>
</cp:coreProperties>
</file>